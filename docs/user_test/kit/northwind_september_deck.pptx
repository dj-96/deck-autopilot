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6B6B75"/>
                </a:solidFill>
              </a:rPr>
              <a:t>Revenue change by channel and total, $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change by channel and total, $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FF2E93"/>
              </a:solidFill>
            </c:spPr>
          </c:dPt>
          <c:dPt>
            <c:idx val="1"/>
            <c:invertIfNegative val="0"/>
            <c:spPr>
              <a:solidFill>
                <a:srgbClr val="0B0B0D"/>
              </a:solidFill>
            </c:spPr>
          </c:dPt>
          <c:dPt>
            <c:idx val="2"/>
            <c:invertIfNegative val="0"/>
            <c:spPr>
              <a:solidFill>
                <a:srgbClr val="FF2E93"/>
              </a:solidFill>
            </c:spPr>
          </c:dPt>
          <c:cat>
            <c:strRef>
              <c:f>Sheet1!$A$2:$A$4</c:f>
              <c:strCache>
                <c:ptCount val="3"/>
                <c:pt idx="0">
                  <c:v>Store</c:v>
                </c:pt>
                <c:pt idx="1">
                  <c:v>Online</c:v>
                </c:pt>
                <c:pt idx="2">
                  <c:v>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13064.0</c:v>
                </c:pt>
                <c:pt idx="1">
                  <c:v>-11235.0</c:v>
                </c:pt>
                <c:pt idx="2">
                  <c:v>1829.0</c:v>
                </c:pt>
              </c:numCache>
            </c:numRef>
          </c:val>
        </c:ser>
        <c:dLbls>
          <c:numFmt formatCode="+$#,##0,&quot;K&quot;;-$#,##0,&quot;K&quot;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6B6B75"/>
                </a:solidFill>
              </a:rPr>
              <a:t>Regional order change, orders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order change, orders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0B0B0D"/>
              </a:solidFill>
            </c:spPr>
          </c:dPt>
          <c:dPt>
            <c:idx val="1"/>
            <c:invertIfNegative val="0"/>
            <c:spPr>
              <a:solidFill>
                <a:srgbClr val="0B0B0D"/>
              </a:solidFill>
            </c:spPr>
          </c:dPt>
          <c:dPt>
            <c:idx val="2"/>
            <c:invertIfNegative val="0"/>
            <c:spPr>
              <a:solidFill>
                <a:srgbClr val="0B0B0D"/>
              </a:solidFill>
            </c:spPr>
          </c:dPt>
          <c:dPt>
            <c:idx val="3"/>
            <c:invertIfNegative val="0"/>
            <c:spPr>
              <a:solidFill>
                <a:srgbClr val="FF2E93"/>
              </a:solidFill>
            </c:spPr>
          </c:dPt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Midwest</c:v>
                </c:pt>
                <c:pt idx="3">
                  <c:v>Northeast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-704.0</c:v>
                </c:pt>
                <c:pt idx="1">
                  <c:v>-266.0</c:v>
                </c:pt>
                <c:pt idx="2">
                  <c:v>-79.0</c:v>
                </c:pt>
                <c:pt idx="3">
                  <c:v>271.0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show fewer orders but slightly more units; no note-based explanation was provided.</a:t>
            </a:r>
          </a:p>
          <a:p/>
          <a:p>
            <a:r>
              <a:t>Facts on this slide:</a:t>
            </a:r>
          </a:p>
          <a:p>
            <a:r>
              <a:t>F2: $1.98M = Total revenue_usd, 2026-09</a:t>
            </a:r>
          </a:p>
          <a:p>
            <a:r>
              <a:t>F3: +$2K = Change in Total revenue_usd, 2026-08 to 2026-09</a:t>
            </a:r>
          </a:p>
          <a:p>
            <a:r>
              <a:t>F4: +0.1% = Change in Total revenue_usd (%), 2026-08 to 2026-09</a:t>
            </a:r>
          </a:p>
          <a:p>
            <a:r>
              <a:t>F6: 35,212 = Total units, 2026-09</a:t>
            </a:r>
          </a:p>
          <a:p>
            <a:r>
              <a:t>F8: +0.4% = Change in Total units (%), 2026-08 to 2026-09</a:t>
            </a:r>
          </a:p>
          <a:p>
            <a:r>
              <a:t>F10: 23,291 = Total orders, 2026-09</a:t>
            </a:r>
          </a:p>
          <a:p>
            <a:r>
              <a:t>F11: -778 = Change in Total orders, 2026-08 to 2026-09</a:t>
            </a:r>
          </a:p>
          <a:p>
            <a:r>
              <a:t>F12: -3.2% = Change in Total orders (%), 2026-08 to 2026-09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shift toward stores is evident in the channel results; the cause of the shift is unknown.</a:t>
            </a:r>
          </a:p>
          <a:p/>
          <a:p>
            <a:r>
              <a:t>Facts on this slide:</a:t>
            </a:r>
          </a:p>
          <a:p>
            <a:r>
              <a:t>F3: +$2K = Change in Total revenue_usd, 2026-08 to 2026-09</a:t>
            </a:r>
          </a:p>
          <a:p>
            <a:r>
              <a:t>F63: +$13K = Change in revenue_usd, Store, 2026-08 to 2026-09</a:t>
            </a:r>
          </a:p>
          <a:p>
            <a:r>
              <a:t>F64: +1.2% = Change in revenue_usd, Store (%), 2026-08 to 2026-09</a:t>
            </a:r>
          </a:p>
          <a:p>
            <a:r>
              <a:t>F67: -$11K = Change in revenue_usd, Online, 2026-08 to 2026-09</a:t>
            </a:r>
          </a:p>
          <a:p>
            <a:r>
              <a:t>F68: -1.3% = Change in revenue_usd, Online (%), 2026-08 to 2026-09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identify the West as the largest regional decline and the South as the steepest new-customer drop; no cause is evidenced.</a:t>
            </a:r>
          </a:p>
          <a:p/>
          <a:p>
            <a:r>
              <a:t>Facts on this slide:</a:t>
            </a:r>
          </a:p>
          <a:p>
            <a:r>
              <a:t>F16: -5.0% = Change in Total new_customers (%), 2026-08 to 2026-09</a:t>
            </a:r>
          </a:p>
          <a:p>
            <a:r>
              <a:t>F71: -704 = Change in orders, West, 2026-08 to 2026-09</a:t>
            </a:r>
          </a:p>
          <a:p>
            <a:r>
              <a:t>F72: -9.9% = Change in orders, West (%), 2026-08 to 2026-09</a:t>
            </a:r>
          </a:p>
          <a:p>
            <a:r>
              <a:t>F88: -10.8% = Change in new_customers, South (%), 2026-08 to 2026-09</a:t>
            </a:r>
          </a:p>
          <a:p>
            <a:r>
              <a:t>F128: -0.6 pp = Change in New-customer share of orders (total), 2026-08 to 2026-09</a:t>
            </a:r>
          </a:p>
          <a:p>
            <a:r>
              <a:t>F155: -163 = Change in orders, West, Accessories, Online, 2026-08 to 2026-09</a:t>
            </a:r>
          </a:p>
          <a:p>
            <a:r>
              <a:t>F159: -157 = Change in orders, West, Apparel, Online, 2026-08 to 2026-09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margin pressure is consistent with COGS rising faster than revenue; no additional cause was provided.</a:t>
            </a:r>
          </a:p>
          <a:p/>
          <a:p>
            <a:r>
              <a:t>Facts on this slide:</a:t>
            </a:r>
          </a:p>
          <a:p>
            <a:r>
              <a:t>F4: +0.1% = Change in Total revenue_usd (%), 2026-08 to 2026-09</a:t>
            </a:r>
          </a:p>
          <a:p>
            <a:r>
              <a:t>F18: $1.04M = Total cogs_usd, 2026-09</a:t>
            </a:r>
          </a:p>
          <a:p>
            <a:r>
              <a:t>F19: +$11K = Change in Total cogs_usd, 2026-08 to 2026-09</a:t>
            </a:r>
          </a:p>
          <a:p>
            <a:r>
              <a:t>F20: +1.0% = Change in Total cogs_usd (%), 2026-08 to 2026-09</a:t>
            </a:r>
          </a:p>
          <a:p>
            <a:r>
              <a:t>F121: 47.4% = Gross margin (total), 2026-09</a:t>
            </a:r>
          </a:p>
          <a:p>
            <a:r>
              <a:t>F122: -0.5 pp = Change in Gross margin (total), 2026-08 to 2026-09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Apparel contributed the largest category-level increase in returns; the underlying cause is unknown.</a:t>
            </a:r>
          </a:p>
          <a:p/>
          <a:p>
            <a:r>
              <a:t>Facts on this slide:</a:t>
            </a:r>
          </a:p>
          <a:p>
            <a:r>
              <a:t>F22: $103K = Total returns_usd, 2026-09</a:t>
            </a:r>
          </a:p>
          <a:p>
            <a:r>
              <a:t>F23: +$3K = Change in Total returns_usd, 2026-08 to 2026-09</a:t>
            </a:r>
          </a:p>
          <a:p>
            <a:r>
              <a:t>F24: +2.8% = Change in Total returns_usd (%), 2026-08 to 2026-09</a:t>
            </a:r>
          </a:p>
          <a:p>
            <a:r>
              <a:t>F103: +$2K = Change in returns_usd, Apparel, 2026-08 to 2026-09</a:t>
            </a:r>
          </a:p>
          <a:p>
            <a:r>
              <a:t>F117: 5.0% = Return rate (total), 2026-08</a:t>
            </a:r>
          </a:p>
          <a:p>
            <a:r>
              <a:t>F118: 5.2% = Return rate (total), 2026-09</a:t>
            </a:r>
          </a:p>
          <a:p>
            <a:r>
              <a:t>F119: +0.1 pp = Change in Return rate (total), 2026-08 to 2026-09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77440"/>
            <a:ext cx="1097280" cy="9144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September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2E93"/>
                </a:solidFill>
                <a:latin typeface="Calibri"/>
              </a:rPr>
              <a:t>Monthly business review: 2026-08 vs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4D4D8"/>
                </a:solidFill>
                <a:latin typeface="Calibri"/>
              </a:rPr>
              <a:t>All numbers fact-checked against the source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75"/>
                </a:solidFill>
                <a:latin typeface="Calibri"/>
              </a:rPr>
              <a:t>Source: client data files. All numbers fact-checked against the source data. Generated by Deck Autopilot.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75"/>
                </a:solidFill>
                <a:latin typeface="Calibri"/>
              </a:rPr>
              <a:t>2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D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F2E93"/>
                </a:solidFill>
              </a:rPr>
              <a:t>■  </a:t>
            </a:r>
            <a:r>
              <a:rPr sz="2000">
                <a:solidFill>
                  <a:srgbClr val="0B0B0D"/>
                </a:solidFill>
                <a:latin typeface="Calibri"/>
              </a:rPr>
              <a:t>Revenue rose 0.1%, but orders fell 3.2% while units rose 0.4%.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2E93"/>
                </a:solidFill>
              </a:rPr>
              <a:t>■  </a:t>
            </a:r>
            <a:r>
              <a:rPr sz="2000">
                <a:solidFill>
                  <a:srgbClr val="0B0B0D"/>
                </a:solidFill>
                <a:latin typeface="Calibri"/>
              </a:rPr>
              <a:t>Store revenue rose $13K while online revenue fell $11K.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2E93"/>
                </a:solidFill>
              </a:rPr>
              <a:t>■  </a:t>
            </a:r>
            <a:r>
              <a:rPr sz="2000">
                <a:solidFill>
                  <a:srgbClr val="0B0B0D"/>
                </a:solidFill>
                <a:latin typeface="Calibri"/>
              </a:rPr>
              <a:t>Gross margin fell 0.5 pp to 47.4% as COGS rose 1.0%.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2E93"/>
                </a:solidFill>
              </a:rPr>
              <a:t>■  </a:t>
            </a:r>
            <a:r>
              <a:rPr sz="2000">
                <a:solidFill>
                  <a:srgbClr val="0B0B0D"/>
                </a:solidFill>
                <a:latin typeface="Calibri"/>
              </a:rPr>
              <a:t>New customers fell 5.0%, and the return rate rose 0.1 pp to 5.2%.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75"/>
                </a:solidFill>
                <a:latin typeface="Calibri"/>
              </a:rPr>
              <a:t>Source: client data files. All numbers fact-checked against the source data. Generated by Deck Autopilot.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75"/>
                </a:solidFill>
                <a:latin typeface="Calibri"/>
              </a:rPr>
              <a:t>3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0B0D"/>
                </a:solidFill>
                <a:latin typeface="Calibri"/>
              </a:rPr>
              <a:t>Revenue edged up 0.1%, masking a 3.2% decline in orders.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Revenue increased by $2K to $1.98M.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Units rose 0.4% to 35,212, even as orders fell 778 to 23,291.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75"/>
                </a:solidFill>
                <a:latin typeface="Calibri"/>
              </a:rPr>
              <a:t>Source: client data files. All numbers fact-checked against the source data. Generated by Deck Autopilot.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75"/>
                </a:solidFill>
                <a:latin typeface="Calibri"/>
              </a:rPr>
              <a:t>4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0B0D"/>
                </a:solidFill>
                <a:latin typeface="Calibri"/>
              </a:rPr>
              <a:t>Store gains offset online declines, leaving total revenue nearly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Store revenue rose $13K, or 1.2%.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Online revenue fell $11K, or 1.3%.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554480"/>
          <a:ext cx="56692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75"/>
                </a:solidFill>
                <a:latin typeface="Calibri"/>
              </a:rPr>
              <a:t>Source: client data files. All numbers fact-checked against the source data. Generated by Deck Autopilot.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75"/>
                </a:solidFill>
                <a:latin typeface="Calibri"/>
              </a:rPr>
              <a:t>5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0B0D"/>
                </a:solidFill>
                <a:latin typeface="Calibri"/>
              </a:rPr>
              <a:t>The West led order declines, while customer acquisition also weakened.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West orders fell 704, or 9.9%, the largest regional decline.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West online Accessories orders fell 163 and West online Apparel orders fell 157.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New customers fell 5.0% overall, with the South down 10.8%; new-customer share of orders slipped 0.6 pp.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554480"/>
          <a:ext cx="56692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75"/>
                </a:solidFill>
                <a:latin typeface="Calibri"/>
              </a:rPr>
              <a:t>Source: client data files. All numbers fact-checked against the source data. Generated by Deck Autopilot.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75"/>
                </a:solidFill>
                <a:latin typeface="Calibri"/>
              </a:rPr>
              <a:t>6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0B0D"/>
                </a:solidFill>
                <a:latin typeface="Calibri"/>
              </a:rPr>
              <a:t>Gross margin fell 0.5 pp to 47.4% as COGS outpaced revenue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COGS rose 1.0% while revenue rose 0.1%.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COGS increased by $11K to $1.04M.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75"/>
                </a:solidFill>
                <a:latin typeface="Calibri"/>
              </a:rPr>
              <a:t>Source: client data files. All numbers fact-checked against the source data. Generated by Deck Autopilot.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75"/>
                </a:solidFill>
                <a:latin typeface="Calibri"/>
              </a:rPr>
              <a:t>7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0B0D"/>
                </a:solidFill>
                <a:latin typeface="Calibri"/>
              </a:rPr>
              <a:t>Returns increased 2.8% as the return rate rose to 5.2%.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Returns increased by $3K to $103K.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The return rate rose 0.1 pp from 5.0% to 5.2%.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FF2E93"/>
                </a:solidFill>
              </a:rPr>
              <a:t>■  </a:t>
            </a:r>
            <a:r>
              <a:rPr sz="1600">
                <a:solidFill>
                  <a:srgbClr val="0B0B0D"/>
                </a:solidFill>
                <a:latin typeface="Calibri"/>
              </a:rPr>
              <a:t>Apparel contributed the largest category increase, with returns up $2K.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